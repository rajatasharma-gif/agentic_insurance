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943600" cy="59436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INSURANCE PLATFORM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Underwriting, Claims, Fraud &amp; Risk—Unified by AI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real-time platform for premium estimation, claims triage, fraud detection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policy churn prediction — powered by Snowflake Cortex AI Agents.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566928" cy="566928"/>
          </a:xfrm>
          <a:prstGeom prst="ellipse">
            <a:avLst/>
          </a:prstGeom>
          <a:solidFill>
            <a:srgbClr val="CADC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108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650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5029200"/>
            <a:ext cx="566928" cy="566928"/>
          </a:xfrm>
          <a:prstGeom prst="ellipse">
            <a:avLst/>
          </a:prstGeom>
          <a:solidFill>
            <a:srgbClr val="CADC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7452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108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5650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0" y="5029200"/>
            <a:ext cx="566928" cy="566928"/>
          </a:xfrm>
          <a:prstGeom prst="ellipse">
            <a:avLst/>
          </a:prstGeom>
          <a:solidFill>
            <a:srgbClr val="CADC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108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5650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77640" y="5029200"/>
            <a:ext cx="566928" cy="566928"/>
          </a:xfrm>
          <a:prstGeom prst="ellipse">
            <a:avLst/>
          </a:prstGeom>
          <a:solidFill>
            <a:srgbClr val="CADCFC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</a:t>
            </a:r>
            <a:endParaRPr lang="en-US" sz="2108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5650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Cortex Analyst • Cortex Agents • Semantic Views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Insurers Are Flying Blind Across the Policy Lifecycle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pricing, claims handling, fraud review and retention are run as separate, manual, backward-looking processes — across Health, Auto, Life and Home lines alike.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EBF5FB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Underwriting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218541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Premiums are estimated with manual, rule-of-thumb judgment instead of consistent, data-driven multi-factor pricing.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FEF9E7"/>
          </a:solidFill>
          <a:ln w="22225">
            <a:solidFill>
              <a:srgbClr val="B795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540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Claims Handling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302666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and fraud signals are reviewed after the fact, slowing approvals and letting fraud losses slip through.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457200" cy="457200"/>
          </a:xfrm>
          <a:prstGeom prst="ellipse">
            <a:avLst/>
          </a:prstGeom>
          <a:solidFill>
            <a:srgbClr val="FDEDEC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953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Policy Churn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86791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 aren't flagged until they've already cancelled — retention offers come too late, if at all.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64024"/>
            <a:ext cx="457200" cy="457200"/>
          </a:xfrm>
          <a:prstGeom prst="ellipse">
            <a:avLst/>
          </a:prstGeom>
          <a:solidFill>
            <a:srgbClr val="F4ECF7"/>
          </a:solidFill>
          <a:ln w="22225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7365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on Stale Data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47091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works from periodic reports, not real-time portfolio, loss-ratio and revenue visibility.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8064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580644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one platform that unifies pricing, claims, fraud and retention — with real-time analytics and predictive AI built in.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Four Connected Modules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running on Snowflake, reading live data from a single governed database. Each module pairs its own workflow with an AI agent grounded in a shared semantic layer — so every answer, chart and quote comes from the same source of truth.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6756" y="2743200"/>
            <a:ext cx="685800" cy="6858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76756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6576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Analytics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251960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portfolio KPIs, revenue &amp; loss-ratio trends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6704" y="242316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EF9E7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4820" y="2743200"/>
            <a:ext cx="685800" cy="6858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795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74820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550" dirty="0"/>
          </a:p>
        </p:txBody>
      </p:sp>
      <p:sp>
        <p:nvSpPr>
          <p:cNvPr id="13" name="Text 11"/>
          <p:cNvSpPr txBox="1"/>
          <p:nvPr/>
        </p:nvSpPr>
        <p:spPr>
          <a:xfrm>
            <a:off x="3511296" y="36576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Calculator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547872" y="4251960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Multi-factor, risk-adjusted pricing in seconds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242316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72884" y="2743200"/>
            <a:ext cx="685800" cy="6858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72884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5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6576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Processing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4251960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Fraud-aware triage with a full audit trail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42832" y="2423160"/>
            <a:ext cx="2542032" cy="3246120"/>
          </a:xfrm>
          <a:prstGeom prst="roundRect">
            <a:avLst>
              <a:gd name="adj" fmla="val 3237"/>
            </a:avLst>
          </a:prstGeom>
          <a:solidFill>
            <a:srgbClr val="F4ECF7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0948" y="2743200"/>
            <a:ext cx="685800" cy="6858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E44A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70948" y="2743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550" dirty="0"/>
          </a:p>
        </p:txBody>
      </p:sp>
      <p:sp>
        <p:nvSpPr>
          <p:cNvPr id="23" name="Text 21"/>
          <p:cNvSpPr txBox="1"/>
          <p:nvPr/>
        </p:nvSpPr>
        <p:spPr>
          <a:xfrm>
            <a:off x="9107424" y="36576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&amp; Risk Engine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4251960"/>
            <a:ext cx="21396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policies with recommended retention actions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9893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Underpinned by: INSURANCE_MGMT_SYSTEM database • 2 semantic views • 3 Cortex AI agents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INSURANCE_MGMT_SYSTEM Database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371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371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2,235+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41080" y="137160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641080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1737360"/>
        </p:xfrm>
        <a:graphic>
          <a:graphicData uri="http://schemas.openxmlformats.org/drawingml/2006/table">
            <a:tbl>
              <a:tblPr/>
              <a:tblGrid>
                <a:gridCol w="1920240"/>
                <a:gridCol w="6675120"/>
                <a:gridCol w="1234440"/>
                <a:gridCol w="12344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data — customers, policies, claims, agents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KPIs, trends, loss ratios, fraud 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predictions, at-risk policies, risk factors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calculations, rating factors, plan tiers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7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0292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(250) — demographics, income, credit score, BMI, smoking status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50292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POLICIES (300) — type, tier, premium, coverage, deductible, loss ratio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CLAIMS (400) — amount, status, fraud score, priority, resolution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54132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CHURN_PREDICTIONS (300) — churn probability, confidence, top risk factors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9729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AT_RISK_POLICIES (165) — risk score, revenue at risk, retention actions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080760" y="5797296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FRAUD_ALERTS (50) — fraud type, confidence score, amount saved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CLAIMS → CUSTOMERS (via CUSTOMER_ID)  •  AT_RISK_POLICIES → POLICIES (via POLICY_ID)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INSURANCE_ANALYTICS_SV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INSURANCE_MGMT_SYSTEM.CORE  •  Extensions: Cortex Analyst, 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insurance portfolio analytics — customers, policies, claims, financial trends, loss ratios and fraud detection across Health, Auto, Life and Home.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EBF5FB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95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6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EBF5FB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395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816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23317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EBF5FB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2395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816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41080" y="23317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EBF5FB"/>
          </a:solidFill>
          <a:ln w="9525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41080" y="2395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6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816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QUERIES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(FACTS)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PREMIUM_AMOUNT, COVERAGE_AMOUNT, TOTAL_PREMIUM_REVENUE, TOTAL_PAYOUT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70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4370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CLAIM_AMOUNT, APPROVED_AMOUNT, AVG_CLAIM_AMOUNT, APPROVAL_RATE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901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49011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FRAUD_SCORE, LOSS_RATIO, COMBINED_RATIO, EXPENSE_RATIO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315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54315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ANNUAL_INCOME, BMI, CUSTOMER_SATISFACTION, CONFIDENCE_SCORE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3520440"/>
            <a:ext cx="0" cy="260604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3520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VERIFIED QUERIES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8587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revenue and retention rate by policy type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0" y="43159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10 customers by total claims amount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ratio trend by policy type over time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52303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Claims count and amount by status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56875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common fraud types and money saved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tables: CUSTOMERS • POLICIES • CLAIMS • POLICY_TRENDS • CLAIMS_KPI • LOSS_RATIO_HISTORY • FRAUD_ALERTS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Executive Insights Agent • Claims Triage Agent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CHURN_RISK_SV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INSURANCE_MGMT_SYSTEM.RISK  •  Extensions: Cortex Analyst, AI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analytics for policy retention — at-risk policy identification, churn predictions with confidence scores, risk-factor analysis and recommended retention actions.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F4ECF7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95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16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23317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F4ECF7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46120" y="2395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816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0" y="23317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F4ECF7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2395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816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41080" y="2331720"/>
            <a:ext cx="2514600" cy="868680"/>
          </a:xfrm>
          <a:prstGeom prst="roundRect">
            <a:avLst>
              <a:gd name="adj" fmla="val 7368"/>
            </a:avLst>
          </a:prstGeom>
          <a:solidFill>
            <a:srgbClr val="F4ECF7"/>
          </a:solidFill>
          <a:ln w="9525">
            <a:solidFill>
              <a:srgbClr val="8E44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41080" y="239572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28163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QUERIES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(FACTS)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Churn: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CHURN_PROBABILITY, CONFIDENCE_SCORE, RISK_SCORE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708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4370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REVENUE_AT_RISK, PREMIUM_AMOUNT, COVERAGE_AMOUNT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901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103120" y="490118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WEIGHT, THRESHOLD_LOW, THRESHOLD_MEDIUM, THRESHOLD_HIGH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3520440"/>
            <a:ext cx="0" cy="260604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3520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VERIFIED QUERIES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8587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 risk breakdown by policy type and risk category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3159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common risk factors driving churn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Policies with churn probability above 70%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tables: AT_RISK_POLICIES • CHURN_PREDICTIONS • RISK_FACTORS • POLICIES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Retention Agent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E86C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212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/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EBF5FB"/>
          </a:solidFill>
          <a:ln w="22225">
            <a:solidFill>
              <a:srgbClr val="2E86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48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3657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Analytics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4650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portfolio KPIs — GWP, loss ratio, combined ratio, retention &amp; growth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426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claims trend, product mix, loss-ratio and policy-growth charts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387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 and income breakdowns by age bracket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53712"/>
            <a:ext cx="91440" cy="914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4348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CSV, full-data CSV and PDF report export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417320"/>
            <a:ext cx="4663440" cy="4892040"/>
          </a:xfrm>
          <a:prstGeom prst="roundRect">
            <a:avLst>
              <a:gd name="adj" fmla="val 1765"/>
            </a:avLst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673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1305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3682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schema: POLICY_TRENDS, CLAIMS_KPI, FRAUD_ALERTS, LOSS_RATIO_HISTORY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CORE.CUSTOMERS (for demographics)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91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295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INSURANCE_ANALYTICS_SV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114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3525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Insights Agent — answers portfolio questions in plain English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B795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212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/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FEF9E7"/>
          </a:solidFill>
          <a:ln w="22225">
            <a:solidFill>
              <a:srgbClr val="B795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448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3657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Calculator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91440" cy="91440"/>
          </a:xfrm>
          <a:prstGeom prst="ellipse">
            <a:avLst/>
          </a:prstGeom>
          <a:solidFill>
            <a:srgbClr val="B795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4650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policy &amp; underwriting inputs for Health, Auto, Life or Home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91440" cy="91440"/>
          </a:xfrm>
          <a:prstGeom prst="ellipse">
            <a:avLst/>
          </a:prstGeom>
          <a:solidFill>
            <a:srgbClr val="B795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426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customer, then pulls the base rate for that product &amp; tier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91440" cy="91440"/>
          </a:xfrm>
          <a:prstGeom prst="ellipse">
            <a:avLst/>
          </a:prstGeom>
          <a:solidFill>
            <a:srgbClr val="B795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387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a multi-factor formula — age, location, health, lifestyle, claims history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53712"/>
            <a:ext cx="91440" cy="91440"/>
          </a:xfrm>
          <a:prstGeom prst="ellipse">
            <a:avLst/>
          </a:prstGeom>
          <a:solidFill>
            <a:srgbClr val="B795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4348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every quote to an audit trail, with a searchable quote history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417320"/>
            <a:ext cx="4663440" cy="4892040"/>
          </a:xfrm>
          <a:prstGeom prst="roundRect">
            <a:avLst>
              <a:gd name="adj" fmla="val 1765"/>
            </a:avLst>
          </a:prstGeom>
          <a:solidFill>
            <a:srgbClr val="FEF9E7"/>
          </a:solidFill>
          <a:ln w="12700">
            <a:solidFill>
              <a:srgbClr val="B795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673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1305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3682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CORE.CUSTOMERS (validation)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PREMIUM.PLAN_TIERS (base rates)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PREMIUM.PREMIUM_CALCULATIONS (audit log)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91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295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not used (deterministic rules engine)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114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3525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none — rules-based pricing, not agent-driven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212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/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FDEDEC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48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3657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Processing &amp; AI Triage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4650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Paginated claims queue, filterable by 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426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fraud score, priority and claim amount at a glance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387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deny or escalate with a confirmation step and full audit trail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53712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4348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claims are auto-flagged to the fraud unit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417320"/>
            <a:ext cx="4663440" cy="4892040"/>
          </a:xfrm>
          <a:prstGeom prst="roundRect">
            <a:avLst>
              <a:gd name="adj" fmla="val 176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673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1305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3682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CORE.CLAIMS (read on load, updated on every decision)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91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295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INSURANCE_ANALYTICS_SV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114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3525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Triage Agent — surfaces fraud patterns &amp; high-priority claims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21240" y="45720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8E44A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9212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/ 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84048"/>
            <a:ext cx="658368" cy="658368"/>
          </a:xfrm>
          <a:prstGeom prst="ellipse">
            <a:avLst/>
          </a:prstGeom>
          <a:solidFill>
            <a:srgbClr val="F4ECF7"/>
          </a:solidFill>
          <a:ln w="22225">
            <a:solidFill>
              <a:srgbClr val="8E44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448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36576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&amp; Risk Prediction Engine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91440" cy="914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4650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at-risk policies with revenue-at-risk and churn probability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91440" cy="914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426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risk by policy type, category and top contributing factors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91440" cy="914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53872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the highest-risk policies with a recommended retention action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53712"/>
            <a:ext cx="91440" cy="914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4348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which retention offers actually worked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95160" y="1417320"/>
            <a:ext cx="4663440" cy="4892040"/>
          </a:xfrm>
          <a:prstGeom prst="roundRect">
            <a:avLst>
              <a:gd name="adj" fmla="val 1765"/>
            </a:avLst>
          </a:prstGeom>
          <a:solidFill>
            <a:srgbClr val="F4ECF7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1673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1305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36829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RISK.AT_RISK_POLICIES, RISK.CHURN_PREDICTIONS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918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2958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CHURN_RISK_SV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1148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3525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Agent — recommends and explains retention actions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All Connects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reads live data from one database. Three of the four also hand off to a Cortex AI agent — each grounded in a shared, governed semantic view, so the app and the AI never give different answers.</a:t>
            </a:r>
            <a:endParaRPr lang="en-US" sz="1300" dirty="0"/>
          </a:p>
        </p:txBody>
      </p:sp>
      <p:pic>
        <p:nvPicPr>
          <p:cNvPr id="5" name="Image 0" descr="/home/claude/arch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10149840" cy="4617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669280" cy="566928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04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32C6B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190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9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 Underwriting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Auto-decision low-risk quotes instantly, no manual review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32C6B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7190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9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057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Lines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4231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platform to Commercial, Travel and Pet insurance.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081528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32C6B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9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84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Alerts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950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the moment a high-risk claim is filed, not after.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081528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32C6B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9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5844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Pricing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95020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 telematics and wearable data for dynamic, personalized premiums.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608576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32C6B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773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9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1114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AI Assistant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7725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 that orchestrates all four modules, not four separate ones.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608576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232C6B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4773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9B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1114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 &amp; Retraining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47725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accuracy tracking for the churn and fraud models over time.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2026-09-14T04:50:01Z</dcterms:created>
  <dcterms:modified xsi:type="dcterms:W3CDTF">2026-09-14T04:50:01Z</dcterms:modified>
</cp:coreProperties>
</file>